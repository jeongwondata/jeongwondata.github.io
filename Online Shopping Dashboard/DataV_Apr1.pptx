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10"/>
  </p:notesMasterIdLst>
  <p:sldIdLst>
    <p:sldId id="256" r:id="rId2"/>
    <p:sldId id="264" r:id="rId3"/>
    <p:sldId id="257" r:id="rId4"/>
    <p:sldId id="259" r:id="rId5"/>
    <p:sldId id="260" r:id="rId6"/>
    <p:sldId id="258" r:id="rId7"/>
    <p:sldId id="261" r:id="rId8"/>
    <p:sldId id="262" r:id="rId9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02"/>
    <p:restoredTop sz="94658"/>
  </p:normalViewPr>
  <p:slideViewPr>
    <p:cSldViewPr snapToGrid="0">
      <p:cViewPr varScale="1">
        <p:scale>
          <a:sx n="120" d="100"/>
          <a:sy n="120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E6F8C-F106-4844-B5B5-6F033323CEA9}" type="datetimeFigureOut">
              <a:rPr lang="en-KR" smtClean="0"/>
              <a:t>4/1/26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5D587-5B84-1447-B8BD-C9F1ECE87DD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46797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5D587-5B84-1447-B8BD-C9F1ECE87DDD}" type="slidenum">
              <a:rPr lang="en-KR" smtClean="0"/>
              <a:t>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98336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2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4/1/26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8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44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0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9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2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65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16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93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4/1/26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93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4/1/26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84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24" r:id="rId6"/>
    <p:sldLayoutId id="2147483719" r:id="rId7"/>
    <p:sldLayoutId id="2147483720" r:id="rId8"/>
    <p:sldLayoutId id="2147483721" r:id="rId9"/>
    <p:sldLayoutId id="2147483723" r:id="rId10"/>
    <p:sldLayoutId id="214748372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E56C1E-B5AA-8AF8-18E6-3BE98203C8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r="-1" b="14750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15A65E-AF1D-E74F-8FD4-D73CD32BC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6949" y="3522133"/>
            <a:ext cx="7974719" cy="2288382"/>
          </a:xfrm>
        </p:spPr>
        <p:txBody>
          <a:bodyPr anchor="t">
            <a:normAutofit/>
          </a:bodyPr>
          <a:lstStyle/>
          <a:p>
            <a:r>
              <a:rPr lang="en-KR" dirty="0">
                <a:solidFill>
                  <a:schemeClr val="tx2"/>
                </a:solidFill>
              </a:rPr>
              <a:t>Online Shopping data</a:t>
            </a:r>
            <a:br>
              <a:rPr lang="en-KR" dirty="0">
                <a:solidFill>
                  <a:schemeClr val="tx2"/>
                </a:solidFill>
              </a:rPr>
            </a:br>
            <a:r>
              <a:rPr lang="en-KR" dirty="0">
                <a:solidFill>
                  <a:schemeClr val="tx2"/>
                </a:solidFill>
              </a:rPr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5719A-79E7-D733-E02E-DA0040CF5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949" y="725465"/>
            <a:ext cx="7974719" cy="2796668"/>
          </a:xfrm>
        </p:spPr>
        <p:txBody>
          <a:bodyPr anchor="b">
            <a:normAutofit/>
          </a:bodyPr>
          <a:lstStyle/>
          <a:p>
            <a:r>
              <a:rPr lang="en-KR" dirty="0">
                <a:solidFill>
                  <a:schemeClr val="tx2"/>
                </a:solidFill>
              </a:rPr>
              <a:t> Jeongwon Yoo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4D786EB-944C-47D5-B631-899F4029B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905012" y="-284145"/>
            <a:ext cx="568289" cy="568289"/>
          </a:xfrm>
          <a:prstGeom prst="rtTriangl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17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C8721-569A-F967-190B-90413667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EBF1F8-D562-C42A-A9FC-B7D4D9C11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0B53735-D6D2-EB14-3AAC-8A1D4D4C8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295CC03-BD81-3EC0-8772-CB3561D8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C81BE30-07B1-900E-9A7A-F3A09B1AE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D5EF272-3EDE-1EA6-232C-D57484F63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71968AB-3EAF-0012-A803-748005B636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E859D96-7857-0AF1-FC0B-59BB56199E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080F0F-465F-EE9B-7F29-267B6ED23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D76D668-3DC6-9515-C36E-D2822C28C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20CD24E-6A29-7DFF-D61A-E9B18CAF1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64D8C8E-8331-7BA7-33AB-FD4B52C1C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0778EA8-E6BF-25FD-6F41-48EB9AF7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08F1C66-330B-B70D-00CA-06945D3BA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55EDFE3-7A73-56FE-A395-9A611D023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5C38F22-CF13-AF61-2076-E6A808267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5B03836-42DD-C3D9-6A55-1F16D66AD0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0122B83-3709-17C5-C46B-BE7A93AAC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121D812-9870-E44F-975D-D3D041538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7C6FD46-BA52-0D33-4665-0581C4CDC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76E95DE-B176-D372-B71A-72B971B57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478731A-6A0B-6046-8636-F8A178D4A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0E69A71-457E-E9A1-6188-4F2666900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A81F0AD-C26B-92F8-6EA8-73DEE606F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C9141E2-3249-1EB9-FE75-83A051EB8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133B31C-8115-2E0E-C886-F32AD6E39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C7E6F27-2EA8-C0B1-448C-FDC0AE9D1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F63EB6C-C191-3317-C038-4735410E68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C9DEA3B-0966-01BA-6224-C6723FE4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6D27417-FF40-0CFF-77DC-19E100C781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B1CCEE7-5433-2C37-59C7-A3C8E4FAE1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9E279F2-A4A7-B031-D178-269159A3B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67A062-2F92-7E1A-7ECE-49632F18B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9E4EA30E-CC7A-EE35-8600-45A71D266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653EC04-D787-BC6B-006B-E50C0D9BE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C9B9F78-DA96-E426-4F90-4E848FDEB3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E32080B-D367-C8BA-8030-40DBBB584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7F3A7DF-A63C-4911-D8F3-59295E0D78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231701F-898A-52BE-C750-35AB533B9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9404D23-C632-15B4-4474-79D0B181A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2052889-98AB-77C1-B4BE-7DCA08C6BD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08A8555-F5E1-C257-13AA-034EC03F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A139616-F784-8BA5-F98F-A9B0A468E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4E121A0-3505-0CB1-BABD-2F95971945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F6406FC-4740-C0A9-D94F-1B92537FA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D460887-319C-D819-2D26-5A6E55C6E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21BBB32-8105-CF35-FE38-7B7CA6AE7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19D1CFB-8368-D475-B9A0-F876B46A8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8ED2DEB-18A9-F3F6-0169-28AB6EDCE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DB74AD8-AC05-6465-B8B2-E8138A2BC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A6A7E3B-83F6-EC76-B591-716C15575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BE2B465-178A-620A-8155-C4F0F1870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7D4551B-556C-120E-98D5-761EB334C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6D9A72-1D35-A41F-EEC4-445DEE274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D93992A-556F-27DD-BDD1-6CE2F313D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74EC4B8-2881-84FB-5B0C-D8E81640C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A63E5F3-A4DE-4DF5-087D-4339F68D0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44BEFCD-71AA-7A01-DA88-D560EE527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3FD0372-F2A5-A351-DECB-4DE1B7A77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5BCC5F5-5BAB-7453-75D2-1F34ECEC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6642278-4C0A-E7E8-C1BE-D9556A44D2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A207CCF-32FD-9A62-AAF7-8097ECCA0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3C5A017-0045-BC66-6565-4A6F63BE6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A176627-F164-E2BC-EF6D-781AC7A04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ABEEA90-11F8-AF6C-E49A-765B2C453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C38655F-7CF5-523B-B1FB-031154B91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0E3A7D0-B887-DAA3-4BF4-0F66C49E6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BEF5B75-6870-0857-F10B-55696AE2C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15240D9-1DAD-A224-396E-645320FC1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E318665-3DB9-B5C3-0E23-DD4D5608F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6013B68-8E28-F2BB-CEF9-691B6E609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1C2BFE3-DEE4-EA3C-026D-C2B75EC8F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155CB8D-D93D-7AE2-025F-129D237D4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652A270-6B2A-9BFD-E249-4D6B1EC90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ACB3E1A-19EF-C35D-E1FF-6A40CF3F5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3C900F5-F6AC-7688-F7CD-D48C1D6FD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9AB4F20-9A1A-EAAA-C315-26AA16D816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2807E6E-4194-DBBA-F784-07BB99D243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A09100B-67E8-5F7A-F457-1B272F389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9207E63-9D85-8CEA-0010-4EB8C4ED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0632EDC-B514-19D7-5FAC-9B9389789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8CA0598-9C9D-73FE-ECF4-4668CBE3C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86343BC-19A9-D497-9217-04AE487D3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48B5175-DBED-D216-7E81-59B25FE4A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FD8D22E-1D24-27DB-C9B1-7BFFAAFF6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73DBE93-34B7-F90C-DFC4-26B1909C6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AE905DBE-130C-FEF3-0501-4737AC7EB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30FEB25C-D3F8-BE09-7243-C4098154A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C774F6F-6517-42EA-B795-1A716D0C4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238FFCCB-5E4B-7431-0C81-5132AF5B6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9F03210-27B7-0566-FF3E-8047374FD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5745412-47BA-B250-6045-8B1D4E8912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142F8B6-51BE-78F7-A4F6-A3D20D42E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10159AB-FEE0-1E68-26C2-2B4F0121B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49D8800B-B517-636A-4054-5278A3C58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68F9B64-DF99-5F96-2786-C898ED055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068287D0-78AA-373E-3110-912D246B1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3" name="Right Triangle 112">
            <a:extLst>
              <a:ext uri="{FF2B5EF4-FFF2-40B4-BE49-F238E27FC236}">
                <a16:creationId xmlns:a16="http://schemas.microsoft.com/office/drawing/2014/main" id="{9EA90029-5BDD-CBDE-4A07-0B1CA8EBC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61B69D57-F846-93CC-BA94-5CD1ACF0A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54133DA-B4E8-6EAD-8927-F6E488995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FC3D6E3-E599-5A36-95A8-BAE3649B8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06825066-9253-463B-B311-BC2DA4F4D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C287109-E50A-1678-106D-50E0DC8939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5148C17-64BF-1258-E4AE-F56F19991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9ADD6490-598A-C441-E283-3FC0F3A439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7FCC348-A73B-F8AC-0262-0955B67306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3277115-CCB5-16C6-359D-52CA09B63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FC24C26-3A94-DE11-E7F4-EB318940D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5D143B50-4652-B72F-4E6D-A199A7D9B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E4A33F77-23BE-9E40-ABF8-3C498FCD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399FC6B-7AA0-6DD1-D420-9638C560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3146188-D753-6536-1604-20B2C5498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444EF71-C5DA-7FAF-99D6-3DC876351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912CB10-2773-46D3-67CE-61395D897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2FB3C7D6-5463-D456-C9C8-32CD3AC6C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1323692-5932-B658-383B-1CA90FEE5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FBF5758-4EC6-BC68-3599-0F226CAFB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864F724-4659-4168-D4BA-82C2C1163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00B41E59-FBDD-799F-C9DC-ED152D381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B790336-0695-F6B5-6663-3D6CB8E303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0A844B9-2AD3-FF30-E5C3-4A6A2DA32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00EE574-6353-FE85-3D70-55E114208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2217482-EA09-F36E-5B79-4903569AB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79A97041-3A75-B4C2-CC1C-25CCBCD2B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A5159BC-B0AB-3689-9DBE-95E9A346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9C45A91-647A-44F3-ED88-9D85C7AC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4C538AE5-9C61-E611-4DAB-EEF7E44080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C95137F-5776-2A4B-72AC-A9FB5414A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AD07F763-AE34-BEB9-CB06-953FF1D728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0089F22-D76D-FE31-5BB2-2CE71C6E4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402" y="3499246"/>
            <a:ext cx="4243315" cy="3030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E72A52-7BE9-69EC-39F3-A34DBE75C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602" y="234452"/>
            <a:ext cx="6151748" cy="30758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B2A89D-6371-895D-ABE3-5BFF5CEE3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253" y="3499246"/>
            <a:ext cx="5126457" cy="3075874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320220" y="1540160"/>
            <a:ext cx="24736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Apparel dominates with 18,126 transactions, followed by Nest-USA (14,013). Niche categories like Notebooks/Android have very few transactions.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2783" y="4182479"/>
            <a:ext cx="16247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 dirty="0" err="1"/>
              <a:t>Avg_Price</a:t>
            </a:r>
            <a:r>
              <a:rPr sz="1200" dirty="0"/>
              <a:t> &amp; </a:t>
            </a:r>
            <a:r>
              <a:rPr sz="1200" dirty="0" err="1"/>
              <a:t>Delivery_Charges</a:t>
            </a:r>
            <a:r>
              <a:rPr sz="1200" dirty="0"/>
              <a:t> are right-skewed. </a:t>
            </a:r>
            <a:r>
              <a:rPr sz="1200" dirty="0" err="1"/>
              <a:t>Online_Spend</a:t>
            </a:r>
            <a:r>
              <a:rPr sz="1200" dirty="0"/>
              <a:t> &amp; </a:t>
            </a:r>
            <a:r>
              <a:rPr sz="1200" dirty="0" err="1"/>
              <a:t>Offline_Spend</a:t>
            </a:r>
            <a:r>
              <a:rPr sz="1200" dirty="0"/>
              <a:t> show more uniform distributions.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399107" y="2782669"/>
            <a:ext cx="28660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Avg Price is heavily right-skewed (mean=$52.24). Most products priced under $50 with a long tail to $350+.</a:t>
            </a:r>
          </a:p>
        </p:txBody>
      </p:sp>
    </p:spTree>
    <p:extLst>
      <p:ext uri="{BB962C8B-B14F-4D97-AF65-F5344CB8AC3E}">
        <p14:creationId xmlns:p14="http://schemas.microsoft.com/office/powerpoint/2010/main" val="1106320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FB42397-759B-4110-90F9-11A099A04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CE16B93-748F-4AF3-90C6-D3EE861E78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1F2252F-DB74-4990-8E43-3B46EB31A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BBB0339-E325-46BB-A951-96F1A4651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21A6F6B-EBF5-41B9-BDDB-AF519B8AD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2CB88A6-ABF0-4981-8112-89F17060A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207B5CF-3BA7-46DE-A98B-C46A77F21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DE055E6-5758-4FD1-A969-1AB1F47EE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5B9E002-9254-431A-BEE3-BC744C6D4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5BB4EB4-8685-4464-8EAE-D44D7770B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3239F69-CDD7-49E2-9C2E-B56A6D009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6C507C8-734D-457D-A4EA-3C1F17BC8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139D922-20CB-41E9-B69E-FA643C51A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E3C40B-0A70-4224-BC24-365327DC6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22999B0-1AA0-4D8B-BB3E-1BEAD972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9737CB6-048C-4FD9-9663-0D214A0A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F1A2328-0FD2-449E-A066-56A7D096A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3212297-7D47-455C-B574-D4A450A6B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F88725D-F086-42CF-A0A4-F335D03F9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EE97B27-B4E2-45AF-ACC9-5EC22DB7A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FADBC7B-7D04-4E57-9B78-3FC78B903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CD44BB5-3236-443E-BDD8-7E145E32D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85E742B-9320-4785-A94F-2CAE2855C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A42F567-7F15-4D7B-8F9C-5F8F6B283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9DAD4DF-0FE8-401C-AE04-738B80B25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101394A-2A38-4F45-B5B6-A025C4B43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9D4873B-257C-4327-907C-082946921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5350388-C37B-41E0-8172-2F7D79DBB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DA0A053-52F2-4D51-BEB7-31B0A3CA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23551FA-C6B2-4251-A24C-021D7B64E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A50F0F9-04C8-47E4-AF66-B3CAF8C81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017C593-7166-4110-8447-086A8A2DB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792CE38-231D-4EFB-BD1C-B0DFC4714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7902244-3120-4F1E-BCA7-C414F8CA5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C2A9BEC-6FBD-4C4E-9D8F-6797108601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D05CAB2-3C3D-4649-A904-7115E0A40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79ECC96-BB36-4A8A-ACFC-0CDAC9A3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6C3BBC2-CEC2-44E9-B82B-34488E7E3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73074D9-0CF2-46DC-8D7A-871B6FE4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573F54A-11A1-4A06-8130-294B4D5CEE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2F69BFB-91DF-4F4E-BE91-2D6805CD6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BA93DEE-828E-4AC5-A89A-B3FCC168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043F28B-A5B8-4573-89CC-A68E27A72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41EDE26-6F99-4FF5-A50B-255FEF1CA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C69229A-861A-4B33-A690-B89F20F21A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1FF5E2F-2AD1-485A-8981-8905C235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2E9781F-DF28-41A8-8A6B-7DC5409F9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CDF5C52-5A30-4182-9FF7-118DB1BB6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C8008CF-A1BC-4A0E-B9A2-05FB501EB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DF1A43F-5E26-4631-8775-BC3BACEB1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8A5A284-AA4F-43C1-84B9-947642136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B3BE54E-1FBA-4E64-982C-9CA2C0C48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E7BA94A-1A8A-45C6-9B8F-AFEC955F1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5C6D3A0-6B84-4021-87FB-3179A711B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A87903E-EEC8-47F4-8730-06C5FD14B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8A92A2B-3460-4608-B3EA-4FFEAF83B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B0E1020-452C-4B7F-A1D2-BA8F1B83F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903CF7B-6947-4932-AD73-020495EDC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453FA51-CE2D-4B84-9F4F-3263D1BC4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327B132-AD8C-4732-93AA-C136586C2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F7C084A-330C-4243-AD92-F98B226F0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7F19A9C0-8335-4ABB-91B6-396031712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3" name="Right Triangle 112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3BA1208A-FAFD-4827-BF3E-A6B16CA01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C43BF2-A38A-F48C-7D74-008CE9142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725467"/>
            <a:ext cx="10733204" cy="2784496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54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A8B027-8532-CB01-0685-74EF15750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188" y="642250"/>
            <a:ext cx="5525112" cy="4143834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3057188" y="5014716"/>
            <a:ext cx="55251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2C3E50"/>
                </a:solidFill>
                <a:latin typeface="Calibri"/>
              </a:defRPr>
            </a:pPr>
            <a:r>
              <a:rPr sz="1400" dirty="0"/>
              <a:t>Revenue strongly correlates with Quantity (r=0.49) and </a:t>
            </a:r>
            <a:r>
              <a:rPr sz="1400" dirty="0" err="1"/>
              <a:t>Avg_Price</a:t>
            </a:r>
            <a:r>
              <a:rPr sz="1400" dirty="0"/>
              <a:t> (r=0.44). </a:t>
            </a:r>
            <a:r>
              <a:rPr sz="1400" dirty="0" err="1"/>
              <a:t>Total_Spend</a:t>
            </a:r>
            <a:r>
              <a:rPr sz="1400" dirty="0"/>
              <a:t> is driven by </a:t>
            </a:r>
            <a:r>
              <a:rPr sz="1400" dirty="0" err="1"/>
              <a:t>Offline_Spend</a:t>
            </a:r>
            <a:r>
              <a:rPr sz="1400" dirty="0"/>
              <a:t> (r=0.85) and </a:t>
            </a:r>
            <a:r>
              <a:rPr sz="1400" dirty="0" err="1"/>
              <a:t>Online_Spend</a:t>
            </a:r>
            <a:r>
              <a:rPr sz="1400" dirty="0"/>
              <a:t> (r=0.79). GST shows a notable negative correlation with </a:t>
            </a:r>
            <a:r>
              <a:rPr sz="1400" dirty="0" err="1"/>
              <a:t>Avg_Price</a:t>
            </a:r>
            <a:r>
              <a:rPr sz="1400" dirty="0"/>
              <a:t> (r=-0.58). Most other feature pairs show weak or no correlation.</a:t>
            </a:r>
          </a:p>
        </p:txBody>
      </p:sp>
    </p:spTree>
    <p:extLst>
      <p:ext uri="{BB962C8B-B14F-4D97-AF65-F5344CB8AC3E}">
        <p14:creationId xmlns:p14="http://schemas.microsoft.com/office/powerpoint/2010/main" val="1182662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DA929-59AC-AFB1-1054-FB8E1C172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F531E0-6B32-AEB8-5A13-2BE9818E7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6987BD-4DDC-5C0B-6DFA-A8B9A40DE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EC70053-9E55-70B8-345B-0B3D402FF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3252" y="-6055"/>
            <a:ext cx="12208610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D37ACEC1-44AE-6AF8-E76D-F3C751184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5" y="3546697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731A4A-1E65-F492-A414-C2264DE33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1FB3F72-D4E4-76D8-7A16-9795A2E0F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D9F0FAE-7ECA-5353-0E5E-0DC072E9F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C32C1B8-748D-84D1-0086-655C5DB60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62C8E91-ED13-4DB6-06E0-8D36BF72E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6922306-8973-B301-6E1E-589276DBD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EA5C51B-2228-3D35-2A59-9FB60726E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E7BDDA-F130-F5E0-836D-995C548CD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71CD77D-0482-B0DC-66E3-5B0A2B5D9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6B9E634-52E4-69D3-4137-9A6CE51DDB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9DF274C-2488-5B48-DB59-E73AA98DE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D2952BD-3A41-7033-A039-90CF35A0DE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484720B-9E68-9557-4F8A-9C43FF768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2F7D2F-22E9-BEC0-076D-88637055BF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813E55A-748F-F9BF-344A-F49C2A507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284F3D7-0756-EB1A-60E6-4B97619BA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AE2F30F-D334-1627-3D04-3DDF5F77A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FA4701B-5A0C-D396-D166-EAD3E9D34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0EEB2A9-F6D9-69B3-13A9-3F7836DE0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8290187-7921-146E-085F-C0684E240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424C65F-3A3C-A765-5B8E-FD999C6F3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3560F98-74A5-7879-1B83-77AE25197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D2A67F3-CAF6-8CB9-5D04-2BA2D5AB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688B197-46C6-3D34-60AA-2F59CB275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CD680FE-6694-0FF2-6114-06640ED82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1FC91E4-B445-A539-FA37-82C307193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2BED40C-E6BA-6964-81DB-16B61B844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0EA3F43-20A8-0C48-187A-62885D83C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3A455B0-B714-3AB0-1376-551CEC2153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32A7450-11C5-A1A5-17E5-0C2EA6F35D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1C6FB21-94C2-9BB8-9F00-FAB1553C5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119" y="487324"/>
            <a:ext cx="4506729" cy="2704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E78096-7DD2-8EC2-22E1-CC4A43B02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3" y="544759"/>
            <a:ext cx="2435672" cy="2435672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3091873-196E-1AB8-64CC-52AAC38E7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806" y="3386819"/>
            <a:ext cx="4537909" cy="2722745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263092" y="3077943"/>
            <a:ext cx="16453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Female customers represent 62.37% of all transactions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sz="1200" dirty="0"/>
              <a:t>nearly a 2:1 ratio over males.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40848" y="1338506"/>
            <a:ext cx="27785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400" dirty="0"/>
              <a:t>'Clicked' is the most common coupon status for both genders. Females dominate all coupon categories.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38145" y="3974979"/>
            <a:ext cx="23199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Chicago leads with 18,380 transactions, followed by California (16,136). Female customers outnumber males in every location.</a:t>
            </a:r>
          </a:p>
        </p:txBody>
      </p:sp>
    </p:spTree>
    <p:extLst>
      <p:ext uri="{BB962C8B-B14F-4D97-AF65-F5344CB8AC3E}">
        <p14:creationId xmlns:p14="http://schemas.microsoft.com/office/powerpoint/2010/main" val="3632860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EB7DF-EF6C-77CA-3E47-D3D8FF0D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D50D90-3EF4-F118-74EB-2A480A30F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07B785-3B11-E103-885D-6587E020F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F62FB2-319E-8F15-5BBF-4C15E463C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3252" y="-6055"/>
            <a:ext cx="12208610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627F7F60-49B9-158C-8C11-C8B57FAF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5" y="3546697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2CDDD2A-6422-BAB3-1A12-57339FB2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51562F6-F7AC-5241-4112-3747012FC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9E15623-6A89-A117-2593-2A96D99BD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D79194-CD32-17B2-6A3E-4AAA4C03BD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B03BEFE-44BC-1627-4BD9-73A100F128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F0817D8-9FEE-72DE-3D6E-D23364278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2196444-9671-2973-BD40-823FEE53F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78D79D0-7CEC-46FC-D26F-9D589E4F9A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0E12500-3652-DE8D-D666-BD7F2E2B0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485BC02-BDC6-E176-570C-EAC753B1D0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2B3CAA4-DC3D-8117-6859-70FDB7553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746DB0F-ADCE-F374-99CC-A5E238BE7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ACFE212-4550-661C-BACC-0F74C7D23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2F6FAC-3744-2B23-BDF0-76EC189BB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EB1794E-FD93-292A-5A09-3FAF24602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B36954-D93D-6905-68C2-10D91A32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F4CEDE5-69BF-8C7B-AC2A-62CA49120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C56371B-22D3-F1B0-067E-7C67AE2FF7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CDA6F21-1D9B-4774-4C05-CF9A8257F7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1A78B38-0B90-A010-22A8-A379DC3CD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3B95DF2-B966-42B4-1A50-ACE830B943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6746E30-2E86-4BD0-3C33-243E0D68E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259649B-9F25-B569-F68C-3161EA4A12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C056CAD-90B3-E005-296E-82FAC203C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242DAD6-E2B8-D127-5098-5EBA1FE52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304C51F-6C64-FFFC-2F38-2A65A2245C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3BC9C42-E4E8-EB23-8A23-709B83FAF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DC4AD55-3DEC-8AC1-AE7E-C362EF8A1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5FBA3E2-8618-5C2F-7FC6-BE58ED0B6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C3B3224-624E-0C42-6CD9-BCB33FED7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2121666-A2F6-3FB2-794A-051160E5B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7" y="673428"/>
            <a:ext cx="6790373" cy="5820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FC7DC8-CCFB-B262-6600-8F9B0E5F3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623" y="2157225"/>
            <a:ext cx="5247516" cy="314851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914623" y="740707"/>
            <a:ext cx="3349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Apparel is #1 category in all 4 cities (33-36%). Category mix is remarkably consistent across locations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sz="1200" dirty="0"/>
              <a:t>no strong regional preference.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25984" y="5477450"/>
            <a:ext cx="28247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Delivery charges range $0-$50 across all locations with a few outliers up to $350. No significant location or gender difference in delivery charges.</a:t>
            </a:r>
          </a:p>
        </p:txBody>
      </p:sp>
    </p:spTree>
    <p:extLst>
      <p:ext uri="{BB962C8B-B14F-4D97-AF65-F5344CB8AC3E}">
        <p14:creationId xmlns:p14="http://schemas.microsoft.com/office/powerpoint/2010/main" val="3667061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1D79C9-FD78-4D11-A424-0002509BD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16368BA-0A3E-4AE0-8333-2364F90C1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3252" y="-6055"/>
            <a:ext cx="12208610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5" y="3546697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3F1D7A3-B053-1FC0-6B42-B79DE1F39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905" y="399174"/>
            <a:ext cx="5805558" cy="29027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ADB891-74B5-DE9C-04C1-368400132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715" y="3514856"/>
            <a:ext cx="5466490" cy="31887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FF05AD-C8A2-CF61-E71B-19A6CD362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008" y="414407"/>
            <a:ext cx="5976060" cy="298803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41008" y="3412437"/>
            <a:ext cx="26153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Offline spend has a higher median and wider IQR than online spend across all locations. Distributions are remarkably similar across cities.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08107" y="3311953"/>
            <a:ext cx="21883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/>
              <a:t>Nest-USA generates the highest monthly revenue. Seasonal peaks visible around months 8-10 for most categories.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9799" y="5915333"/>
            <a:ext cx="23056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Nest-USA has the widest price range ($0-$350). Apparel, Office, and Drinkware are concentrated under $50.</a:t>
            </a:r>
          </a:p>
        </p:txBody>
      </p:sp>
    </p:spTree>
    <p:extLst>
      <p:ext uri="{BB962C8B-B14F-4D97-AF65-F5344CB8AC3E}">
        <p14:creationId xmlns:p14="http://schemas.microsoft.com/office/powerpoint/2010/main" val="2965605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78491-6037-22F6-7C91-58BCC058A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AC3F180-CA73-FDD6-D2FC-BC1AC642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AB291C-A727-908D-FCDE-32F2D066D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E62F81B-3CAA-D8F2-A701-BB1AB5567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3252" y="-6055"/>
            <a:ext cx="12208610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B516690-F45B-A8CE-7F8F-2E274629B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5" y="3546697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5B0433A-FAB8-2F02-13DB-1781CBE9A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311E2AD-753E-A7BA-4131-21D471CC7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D8C5215-8BD2-95EC-CC17-44E03F650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E1609A-BB65-D0F3-0F42-FEDB34DF48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24267A-666B-6D1B-5CAD-B00210C50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70C687E-FDEE-EDB7-F42D-16D8F5457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68A15B-EA4E-7991-2A5B-087DBC345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07C74B1-C461-8FA9-A722-2323ECFCC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D88556-43AA-8442-CE96-00176F395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762E02A-A9D2-CBD1-C057-D7C1E6A6A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C4D9061-FEAC-6964-0022-7AFD5EF8E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EAF3856-0ACF-7F5C-3C27-AE7C9C05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785A38-5837-0DEB-C7AA-76534E3B9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EB80864-9A7E-87BB-C66A-89287A43D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16EAAB-4C10-9E39-35EA-C4458D14A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5269DEC-0A62-CE4F-3718-D79B44100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9292A6B-BB9D-8380-6923-854122CCA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7481B63-CEED-037E-F6EC-E457049CB7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04F163-175B-6FCD-45CD-B7B7DC5D9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9AE1883-708A-E942-DBAE-AFF3C26F8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DBDF9DB-36C9-0BDE-C414-F4E56F801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C5EE0EC-2786-0A1A-0D57-55EA05D97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674A3B2-CE21-6007-581C-9107998D6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11E6115-E149-0BD8-21FA-2D7DF5DC0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9D8507A-C66C-F979-C44C-D687C1FAF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EEC7402-A17E-6CA6-2442-7EEFE5EB96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E8A572A-C3BE-0064-3C87-BA51C3980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4FB7C56-110C-E066-CC5B-1F9C0B2D9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4E29179-5491-343D-23F2-04740909A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79DD7D3-20E7-4A96-1C87-4119617AC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4EBB333-D2E2-5FD2-4702-EC0B6E951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402" y="437728"/>
            <a:ext cx="5324310" cy="26621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05B33E-9445-01E3-CA5D-A2191EEF1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583" y="3234699"/>
            <a:ext cx="5309289" cy="318557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993003" y="1196225"/>
            <a:ext cx="22091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Offline spend is consistently higher than online spend. Offline peaks in months 4, 5, and 11. Online spend remains relatively stable (~$1,600-$2,500).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11679" y="3702952"/>
            <a:ext cx="2998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Online spend is roughly uniformly distributed between ~$320-$4,557. Mean = $1,893.11.</a:t>
            </a:r>
          </a:p>
        </p:txBody>
      </p:sp>
    </p:spTree>
    <p:extLst>
      <p:ext uri="{BB962C8B-B14F-4D97-AF65-F5344CB8AC3E}">
        <p14:creationId xmlns:p14="http://schemas.microsoft.com/office/powerpoint/2010/main" val="229418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3E9C3-7043-23EB-BEA2-B79661F9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A626E9-9B8A-6391-E8C0-FF07A63F7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803BB2-5F74-7D0A-FADB-66DCB29A9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3063664-FB6D-C239-DB72-A3F098B20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3252" y="-6055"/>
            <a:ext cx="12208610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05918857-3AF2-1396-B183-265161E55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5" y="3546697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F9D470-7D05-3B91-C39B-72A569C26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3A08E89-E4FE-902A-3E8E-AD81541C62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EE3C79C-FBC1-8F58-F0C5-AF23F6F83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36D687-0336-7056-FF92-CC34D57DB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A6608B-8D54-9DE7-6366-22693D0EB9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1C88BB2-2118-0AA1-1A8A-966C2B8BB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1D679E5-EA27-95F7-1B94-DC4EA6968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28C2775-096A-012B-8257-06D7BC798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AA5539A-EDC3-FDA6-7A1B-CEE429A947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3E1F52B-0771-B794-1898-E7844F5A75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BC6262-BF31-6496-015F-6A92ED240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1FA2300-5765-368E-3EA0-A33352D93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731FBD2-0BC8-BF30-1F2C-E8641F7E4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41CF257-6C2B-DEF6-0C03-9BB6E533BF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5E10E17-CFEE-255F-892A-B5D4E6E91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9D943C-3229-639F-1477-7F10A1538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E5D6235-03A7-EEBA-CD48-17C52AD4F7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03CAF6B-8A39-A12C-ED34-A78529C72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C71AC78-2C33-A929-5D69-551EB29AA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0B2B7EB-DE27-990C-EEC3-95D789B1B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B2BD2A1-DB46-968C-561D-5202161B9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DC8228-2D29-AA95-8EE3-50DE0CD80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ED50114-A579-6618-0857-367371DF30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7FBEE8F-8571-D4E6-BF40-03125DD6F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CA754CA-A143-A468-39C9-B6B5448A5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6787BF5-C83E-1DC3-2F08-1D754EF8C4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263236B-3C49-967C-E609-97C12528A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06FFB0A-B3E5-26A5-85B6-5B2BC44CE7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C005E81-39F4-D49A-2ED1-7FE4DE845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D2F7FA2-78BC-9987-AA19-574FEC56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2D24A85-352B-6427-1705-ACCD7C2FA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193" y="1655352"/>
            <a:ext cx="6405201" cy="38431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E8514B-453D-6D23-5C61-4C495F03D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583" y="1655352"/>
            <a:ext cx="3755463" cy="375546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20583" y="5440815"/>
            <a:ext cx="3755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50.88% of coupons were clicked but not redeemed. Only 33.83% were actually used. 15.29% were not engaged with at all.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28193" y="5528473"/>
            <a:ext cx="6405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2C3E50"/>
                </a:solidFill>
                <a:latin typeface="Calibri"/>
              </a:defRPr>
            </a:pPr>
            <a:r>
              <a:rPr sz="1200"/>
              <a:t>Price distributions are heavily right-skewed across all coupon statuses. Most products priced under $50. No significant difference in pricing between genders or coupon usage groups.</a:t>
            </a:r>
          </a:p>
        </p:txBody>
      </p:sp>
    </p:spTree>
    <p:extLst>
      <p:ext uri="{BB962C8B-B14F-4D97-AF65-F5344CB8AC3E}">
        <p14:creationId xmlns:p14="http://schemas.microsoft.com/office/powerpoint/2010/main" val="603843276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418</Words>
  <Application>Microsoft Macintosh PowerPoint</Application>
  <PresentationFormat>Widescreen</PresentationFormat>
  <Paragraphs>19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Avenir Next LT Pro</vt:lpstr>
      <vt:lpstr>Posterama</vt:lpstr>
      <vt:lpstr>SineVTI</vt:lpstr>
      <vt:lpstr>Online Shopping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Yoo, Jeongwon</dc:creator>
  <cp:lastModifiedBy>Yoo, Jeongwon</cp:lastModifiedBy>
  <cp:revision>2</cp:revision>
  <dcterms:created xsi:type="dcterms:W3CDTF">2026-04-01T15:07:24Z</dcterms:created>
  <dcterms:modified xsi:type="dcterms:W3CDTF">2026-04-01T17:24:19Z</dcterms:modified>
</cp:coreProperties>
</file>